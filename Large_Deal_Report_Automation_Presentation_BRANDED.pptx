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with: this is not a coding lesson. Ask for hands if they did copy/paste reporting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Narrate quickly; focus on pain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confident rhythm; this is your core storyline.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practical learning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pattern scales to KPI packs, reconciliations, compliance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30-60 sec. Invite two people. Keep momentum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under 30 seconds. No deep technical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back to the 8-step slide while presenting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repetitive admin work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only if needed; otherwise skip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strong and clear; ask for one concrete next step from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502920"/>
            <a:ext cx="2103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9999"/>
                </a:solidFill>
              </a:defRPr>
            </a:pPr>
            <a:r>
              <a:t>Add Team 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F2D55"/>
                </a:solidFill>
              </a:defRPr>
            </a:pPr>
            <a:r>
              <a:t>From Manual Reporting to One-Click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595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2222"/>
                </a:solidFill>
              </a:defRPr>
            </a:pPr>
            <a:r>
              <a:t>How Python removes repetitive report admin and frees time for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Your Team Name  |  Your Name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4190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Your Team Name | Large Deal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D55"/>
                </a:solidFill>
              </a:defRPr>
            </a:pPr>
            <a: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31089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222222"/>
                </a:solidFill>
              </a:defRPr>
            </a:pPr>
            <a:r>
              <a:t>Before: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Repetitive daily report steps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Manual copy/paste across files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Risk of missed steps under time pressure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After: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One-click workflow from start to send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Consistent output each day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More time for analysis and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190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Your Team Name | Large Deal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D55"/>
                </a:solidFill>
              </a:defRPr>
            </a:pPr>
            <a:r>
              <a:t>What the automation does (8 steps)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31089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222222"/>
                </a:solidFill>
              </a:defRPr>
            </a:pPr>
            <a:r>
              <a:t>1) Find latest report template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2) Download latest Excel attachment from email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3) Update Worksheet 1 with fresh data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4) Refresh Worksheet 2 (queries/connections)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5) Create Worksheet 3 (mobile-friendly copy)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6) Save date-stamped report file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7) Email distribution list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8) Cleanup temp files + log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190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Your Team Name | Large Deal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D55"/>
                </a:solidFill>
              </a:defRPr>
            </a:pPr>
            <a:r>
              <a:t>Teach-back #1: The 4-question automation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31089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222222"/>
                </a:solidFill>
              </a:defRPr>
            </a:pPr>
            <a:r>
              <a:t>Use this for any current/future team task: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Is it repetitive?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Is it rule-based?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Is input/output digital (Excel, email, CSV)?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Is it time-consuming or error-prone?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If YES to 3+ =&gt; strong automation candidate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190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Your Team Name | Large Deal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D55"/>
                </a:solidFill>
              </a:defRPr>
            </a:pPr>
            <a:r>
              <a:t>Teach-back #2: Reusable automation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31089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222222"/>
                </a:solidFill>
              </a:defRPr>
            </a:pPr>
            <a:r>
              <a:t>Input -&gt; Process -&gt; Output -&gt; Notify -&gt; Log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Input: where data starts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Process: repeatable business rules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Output: report/file/dashboard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Notify: send to stakeholders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Log: what ran and what failed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190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Your Team Name | Large Deal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D55"/>
                </a:solidFill>
              </a:defRPr>
            </a:pPr>
            <a:r>
              <a:t>Engagement moment (60 seconds)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31089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222222"/>
                </a:solidFill>
              </a:defRPr>
            </a:pPr>
            <a:r>
              <a:t>Pick one repetitive task you own right now: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What is the task?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How often does it happen?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Which steps are repetitive?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What would "done automatically" look like?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We will review 2 examples live using the 4-question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190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Your Team Name | Large Deal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D55"/>
                </a:solidFill>
              </a:defRPr>
            </a:pPr>
            <a:r>
              <a:t>Code proof: one-click launcher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999"/>
                </a:solidFill>
              </a:defRPr>
            </a:pPr>
            <a:r>
              <a:t>Business meaning: one command starts the full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89920" cy="4389120"/>
          </a:xfrm>
          <a:prstGeom prst="roundRect">
            <a:avLst/>
          </a:prstGeom>
          <a:solidFill>
            <a:srgbClr val="F6F6F6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  <a:latin typeface="Courier New"/>
              </a:defRPr>
            </a:pPr>
            <a:r>
              <a:t>#!/bin/bash</a:t>
            </a:r>
            <a:br/>
            <a:r>
              <a:t>cd "$(dirname "$0")"</a:t>
            </a:r>
            <a:br/>
            <a:r>
              <a:t>python3 large_deal_report_automation.py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190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Your Team Name | Large Deal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D55"/>
                </a:solidFill>
              </a:defRPr>
            </a:pPr>
            <a:r>
              <a:t>Code proof: step-by-step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999"/>
                </a:solidFill>
              </a:defRPr>
            </a:pPr>
            <a:r>
              <a:t>Business meaning: each line maps to one business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89920" cy="4389120"/>
          </a:xfrm>
          <a:prstGeom prst="roundRect">
            <a:avLst/>
          </a:prstGeom>
          <a:solidFill>
            <a:srgbClr val="F6F6F6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  <a:latin typeface="Courier New"/>
              </a:defRPr>
            </a:pPr>
            <a:r>
              <a:t>latest_report_path = self.find_latest_report()</a:t>
            </a:r>
            <a:br/>
            <a:r>
              <a:t>daily_sheet_path = self.email_handler.download_daily_attachment(self.temp_dir, self.current_date)</a:t>
            </a:r>
            <a:br/>
            <a:r>
              <a:t>self.excel_processor.update_worksheet_1(workbook, daily_sheet_path)</a:t>
            </a:r>
            <a:br/>
            <a:r>
              <a:t>self.excel_processor.refresh_worksheet_2(workbook, latest_report_path)</a:t>
            </a:r>
            <a:br/>
            <a:r>
              <a:t>self.excel_processor.copy_worksheet_2_to_3(workbook)</a:t>
            </a:r>
            <a:br/>
            <a:r>
              <a:t>self.excel_processor.save_workbook(workbook, new_report_path)</a:t>
            </a:r>
            <a:br/>
            <a:r>
              <a:t>self.email_handler.send_report_email(new_report_path, self.config["distribution_list"], sender_name, self.current_date)</a:t>
            </a:r>
            <a:br/>
            <a:r>
              <a:t>self.cleanup_temp_files()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190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Your Team Name | Large Deal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D55"/>
                </a:solidFill>
              </a:defRPr>
            </a:pPr>
            <a:r>
              <a:t>Code proof: manual copy/paste replaced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999"/>
                </a:solidFill>
              </a:defRPr>
            </a:pPr>
            <a:r>
              <a:t>Business meaning: old data out, fresh data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89920" cy="4389120"/>
          </a:xfrm>
          <a:prstGeom prst="roundRect">
            <a:avLst/>
          </a:prstGeom>
          <a:solidFill>
            <a:srgbClr val="F6F6F6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  <a:latin typeface="Courier New"/>
              </a:defRPr>
            </a:pPr>
            <a:r>
              <a:t>if ws1.max_row &gt; 0:</a:t>
            </a:r>
            <a:br/>
            <a:r>
              <a:t>    ws1.delete_rows(1, ws1.max_row)</a:t>
            </a:r>
            <a:br/>
            <a:br/>
            <a:r>
              <a:t>for row in daily_ws.iter_rows(values_only=True):</a:t>
            </a:r>
            <a:br/>
            <a:r>
              <a:t>    if any(cell is not None for cell in row):</a:t>
            </a:r>
            <a:br/>
            <a:r>
              <a:t>        ws1.append(row)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190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Your Team Name | Large Deal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D55"/>
                </a:solidFill>
              </a:defRPr>
            </a:pPr>
            <a:r>
              <a:t>Quick Q&amp;A backup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31089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222222"/>
                </a:solidFill>
              </a:defRPr>
            </a:pPr>
            <a:r>
              <a:t>Q: Do we all need to learn advanced Python?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A: No. First skill is identifying automation-ready tasks.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Q: Is this only for this report?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A: No. Same pattern works for many recurring workflows.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Q: What if it fails?</a:t>
            </a:r>
          </a:p>
          <a:p>
            <a:pPr lvl="1">
              <a:defRPr sz="2000">
                <a:solidFill>
                  <a:srgbClr val="646464"/>
                </a:solidFill>
              </a:defRPr>
            </a:pPr>
            <a:r>
              <a:t>A: Logging and fallback behavior support troubleshooting.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190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Your Team Name | Large Deal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D55"/>
                </a:solidFill>
              </a:defRPr>
            </a:pPr>
            <a:r>
              <a:t>Close and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31089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222222"/>
                </a:solidFill>
              </a:defRPr>
            </a:pPr>
            <a:r>
              <a:t>Takeaway: We do not need everyone to code.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We need everyone to identify good automation opportunities.</a:t>
            </a:r>
          </a:p>
          <a:p>
            <a:pPr>
              <a:defRPr sz="2500">
                <a:solidFill>
                  <a:srgbClr val="222222"/>
                </a:solidFill>
              </a:defRPr>
            </a:pP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Action this week: each person submits 1 candidate task</a:t>
            </a: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using the 4-question test.</a:t>
            </a:r>
          </a:p>
          <a:p>
            <a:pPr>
              <a:defRPr sz="2500">
                <a:solidFill>
                  <a:srgbClr val="222222"/>
                </a:solidFill>
              </a:defRPr>
            </a:pPr>
          </a:p>
          <a:p>
            <a:pPr>
              <a:defRPr sz="2500">
                <a:solidFill>
                  <a:srgbClr val="222222"/>
                </a:solidFill>
              </a:defRPr>
            </a:pPr>
            <a:r>
              <a:t>Final line: Let humans do judgment; let Python do repetition.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190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Your Team Name | Large Deal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